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Overlock"/>
      <p:regular r:id="rId13"/>
      <p:bold r:id="rId14"/>
      <p:italic r:id="rId15"/>
      <p:boldItalic r:id="rId16"/>
    </p:embeddedFont>
    <p:embeddedFont>
      <p:font typeface="Century Gothic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3r6osV2CT+mabkoR0cwdnEvw1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font" Target="fonts/Overlock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verlock-italic.fntdata"/><Relationship Id="rId14" Type="http://schemas.openxmlformats.org/officeDocument/2006/relationships/font" Target="fonts/Overlock-bold.fntdata"/><Relationship Id="rId17" Type="http://schemas.openxmlformats.org/officeDocument/2006/relationships/font" Target="fonts/CenturyGothic-regular.fntdata"/><Relationship Id="rId16" Type="http://schemas.openxmlformats.org/officeDocument/2006/relationships/font" Target="fonts/Overlock-boldItalic.fntdata"/><Relationship Id="rId5" Type="http://schemas.openxmlformats.org/officeDocument/2006/relationships/slide" Target="slides/slide1.xml"/><Relationship Id="rId19" Type="http://schemas.openxmlformats.org/officeDocument/2006/relationships/font" Target="fonts/CenturyGothic-italic.fntdata"/><Relationship Id="rId6" Type="http://schemas.openxmlformats.org/officeDocument/2006/relationships/slide" Target="slides/slide2.xml"/><Relationship Id="rId18" Type="http://schemas.openxmlformats.org/officeDocument/2006/relationships/font" Target="fonts/CenturyGothic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ctrTitle"/>
          </p:nvPr>
        </p:nvSpPr>
        <p:spPr>
          <a:xfrm>
            <a:off x="2589213" y="2514600"/>
            <a:ext cx="8915399" cy="22627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589213" y="4777379"/>
            <a:ext cx="8915399" cy="1126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FEFEFE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1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/>
          <p:nvPr/>
        </p:nvSpPr>
        <p:spPr>
          <a:xfrm>
            <a:off x="0" y="4323810"/>
            <a:ext cx="1744652" cy="778589"/>
          </a:xfrm>
          <a:custGeom>
            <a:rect b="b" l="l" r="r" t="t"/>
            <a:pathLst>
              <a:path extrusionOk="0" h="166" w="372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531812" y="4529540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2592925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2589212" y="2133600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type="title"/>
          </p:nvPr>
        </p:nvSpPr>
        <p:spPr>
          <a:xfrm>
            <a:off x="2589212" y="2058750"/>
            <a:ext cx="891539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" type="body"/>
          </p:nvPr>
        </p:nvSpPr>
        <p:spPr>
          <a:xfrm>
            <a:off x="2589212" y="3530129"/>
            <a:ext cx="891539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1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2589212" y="2133600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2" type="body"/>
          </p:nvPr>
        </p:nvSpPr>
        <p:spPr>
          <a:xfrm>
            <a:off x="7190747" y="2126222"/>
            <a:ext cx="4313864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3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2939373" y="1972703"/>
            <a:ext cx="399273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14"/>
          <p:cNvSpPr txBox="1"/>
          <p:nvPr>
            <p:ph idx="2" type="body"/>
          </p:nvPr>
        </p:nvSpPr>
        <p:spPr>
          <a:xfrm>
            <a:off x="2589212" y="2548966"/>
            <a:ext cx="4342893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3" type="body"/>
          </p:nvPr>
        </p:nvSpPr>
        <p:spPr>
          <a:xfrm>
            <a:off x="7506629" y="1969475"/>
            <a:ext cx="399900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14"/>
          <p:cNvSpPr txBox="1"/>
          <p:nvPr>
            <p:ph idx="4" type="body"/>
          </p:nvPr>
        </p:nvSpPr>
        <p:spPr>
          <a:xfrm>
            <a:off x="7166957" y="2545738"/>
            <a:ext cx="4338674" cy="335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4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5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2589212" y="446088"/>
            <a:ext cx="3505199" cy="9763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0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6323012" y="446088"/>
            <a:ext cx="5181600" cy="5414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2" type="body"/>
          </p:nvPr>
        </p:nvSpPr>
        <p:spPr>
          <a:xfrm>
            <a:off x="2589212" y="1598613"/>
            <a:ext cx="3505199" cy="4262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2" name="Google Shape;92;p17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7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8"/>
          <p:cNvSpPr/>
          <p:nvPr>
            <p:ph idx="2" type="pic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0" name="Google Shape;100;p18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8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légende">
  <p:cSld name="Titre et légend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2589212" y="609600"/>
            <a:ext cx="8915399" cy="311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EFEFE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1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9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tion avec légende">
  <p:cSld name="Citation avec légende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275012" y="3505200"/>
            <a:ext cx="753655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FEFEFE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14" name="Google Shape;114;p20"/>
          <p:cNvSpPr txBox="1"/>
          <p:nvPr>
            <p:ph idx="2" type="body"/>
          </p:nvPr>
        </p:nvSpPr>
        <p:spPr>
          <a:xfrm>
            <a:off x="2589212" y="4354046"/>
            <a:ext cx="8915399" cy="1555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EFEFE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20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0"/>
          <p:cNvSpPr/>
          <p:nvPr/>
        </p:nvSpPr>
        <p:spPr>
          <a:xfrm flipH="1" rot="10800000">
            <a:off x="-4189" y="31781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531812" y="3244139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19" name="Google Shape;119;p20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0" name="Google Shape;120;p20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e nom">
  <p:cSld name="Carte nom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FEFEFE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24" name="Google Shape;124;p21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1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e nom citation">
  <p:cSld name="Carte nom citation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2849949" y="609600"/>
            <a:ext cx="8393926" cy="28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0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1" name="Google Shape;131;p22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FEFEFE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32" name="Google Shape;132;p22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2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2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36" name="Google Shape;136;p22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37" name="Google Shape;137;p22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8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rai ou faux">
  <p:cSld name="Vrai ou faux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2589212" y="627407"/>
            <a:ext cx="8915399" cy="28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0"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2589212" y="4343400"/>
            <a:ext cx="8915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1" name="Google Shape;141;p23"/>
          <p:cNvSpPr txBox="1"/>
          <p:nvPr>
            <p:ph idx="2" type="body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FEFEFE"/>
                </a:solidFill>
              </a:defRPr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3"/>
          <p:cNvSpPr/>
          <p:nvPr/>
        </p:nvSpPr>
        <p:spPr>
          <a:xfrm flipH="1" rot="10800000">
            <a:off x="-4189" y="491172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3"/>
          <p:cNvSpPr txBox="1"/>
          <p:nvPr>
            <p:ph idx="12" type="sldNum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4"/>
          <p:cNvSpPr txBox="1"/>
          <p:nvPr>
            <p:ph idx="1" type="body"/>
          </p:nvPr>
        </p:nvSpPr>
        <p:spPr>
          <a:xfrm rot="5400000">
            <a:off x="5103812" y="-381000"/>
            <a:ext cx="3886200" cy="89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49" name="Google Shape;149;p24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4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4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 rot="5400000">
            <a:off x="7756704" y="2165513"/>
            <a:ext cx="5283817" cy="22076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 rot="5400000">
            <a:off x="3185803" y="30814"/>
            <a:ext cx="5283817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indent="-342900" lvl="1" marL="914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indent="-342900" lvl="2" marL="1371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indent="-342900" lvl="3" marL="1828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indent="-342900" lvl="4" marL="22860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indent="-342900" lvl="5" marL="27432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indent="-342900" lvl="6" marL="32004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indent="-342900" lvl="7" marL="36576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indent="-342900" lvl="8" marL="41148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/>
        </p:txBody>
      </p:sp>
      <p:sp>
        <p:nvSpPr>
          <p:cNvPr id="156" name="Google Shape;156;p25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5"/>
          <p:cNvSpPr/>
          <p:nvPr/>
        </p:nvSpPr>
        <p:spPr>
          <a:xfrm flipH="1" rot="10800000">
            <a:off x="-4189" y="714375"/>
            <a:ext cx="1588527" cy="507297"/>
          </a:xfrm>
          <a:custGeom>
            <a:rect b="b" l="l" r="r" t="t"/>
            <a:pathLst>
              <a:path extrusionOk="0" h="10000" w="9248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5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9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7" name="Google Shape;7;p9"/>
            <p:cNvSpPr/>
            <p:nvPr/>
          </p:nvSpPr>
          <p:spPr>
            <a:xfrm>
              <a:off x="2487613" y="2284413"/>
              <a:ext cx="85725" cy="533400"/>
            </a:xfrm>
            <a:custGeom>
              <a:rect b="b" l="l" r="r" t="t"/>
              <a:pathLst>
                <a:path extrusionOk="0" h="136" w="22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rgbClr val="BF0000">
                <a:alpha val="4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" name="Google Shape;8;p9"/>
            <p:cNvSpPr/>
            <p:nvPr/>
          </p:nvSpPr>
          <p:spPr>
            <a:xfrm>
              <a:off x="2597151" y="2779713"/>
              <a:ext cx="550863" cy="1978025"/>
            </a:xfrm>
            <a:custGeom>
              <a:rect b="b" l="l" r="r" t="t"/>
              <a:pathLst>
                <a:path extrusionOk="0" h="504" w="14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rgbClr val="BF0000">
                <a:alpha val="4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" name="Google Shape;9;p9"/>
            <p:cNvSpPr/>
            <p:nvPr/>
          </p:nvSpPr>
          <p:spPr>
            <a:xfrm>
              <a:off x="3175001" y="4730750"/>
              <a:ext cx="519113" cy="1209675"/>
            </a:xfrm>
            <a:custGeom>
              <a:rect b="b" l="l" r="r" t="t"/>
              <a:pathLst>
                <a:path extrusionOk="0" h="308" w="132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rgbClr val="BF0000">
                <a:alpha val="4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" name="Google Shape;10;p9"/>
            <p:cNvSpPr/>
            <p:nvPr/>
          </p:nvSpPr>
          <p:spPr>
            <a:xfrm>
              <a:off x="3305176" y="5630863"/>
              <a:ext cx="146050" cy="309563"/>
            </a:xfrm>
            <a:custGeom>
              <a:rect b="b" l="l" r="r" t="t"/>
              <a:pathLst>
                <a:path extrusionOk="0" h="79" w="37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rgbClr val="BF0000">
                <a:alpha val="4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9"/>
            <p:cNvSpPr/>
            <p:nvPr/>
          </p:nvSpPr>
          <p:spPr>
            <a:xfrm>
              <a:off x="2573338" y="2817813"/>
              <a:ext cx="700088" cy="2835275"/>
            </a:xfrm>
            <a:custGeom>
              <a:rect b="b" l="l" r="r" t="t"/>
              <a:pathLst>
                <a:path extrusionOk="0" h="722" w="178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rgbClr val="BF0000">
                <a:alpha val="4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9"/>
            <p:cNvSpPr/>
            <p:nvPr/>
          </p:nvSpPr>
          <p:spPr>
            <a:xfrm>
              <a:off x="2506663" y="285750"/>
              <a:ext cx="90488" cy="2493963"/>
            </a:xfrm>
            <a:custGeom>
              <a:rect b="b" l="l" r="r" t="t"/>
              <a:pathLst>
                <a:path extrusionOk="0" h="635" w="23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rgbClr val="BF0000">
                <a:alpha val="4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9"/>
            <p:cNvSpPr/>
            <p:nvPr/>
          </p:nvSpPr>
          <p:spPr>
            <a:xfrm>
              <a:off x="2554288" y="2598738"/>
              <a:ext cx="66675" cy="420688"/>
            </a:xfrm>
            <a:custGeom>
              <a:rect b="b" l="l" r="r" t="t"/>
              <a:pathLst>
                <a:path extrusionOk="0" h="107" w="1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rgbClr val="BF0000">
                <a:alpha val="4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9"/>
            <p:cNvSpPr/>
            <p:nvPr/>
          </p:nvSpPr>
          <p:spPr>
            <a:xfrm>
              <a:off x="3143251" y="4757738"/>
              <a:ext cx="161925" cy="873125"/>
            </a:xfrm>
            <a:custGeom>
              <a:rect b="b" l="l" r="r" t="t"/>
              <a:pathLst>
                <a:path extrusionOk="0" h="222" w="41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rgbClr val="BF0000">
                <a:alpha val="4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9"/>
            <p:cNvSpPr/>
            <p:nvPr/>
          </p:nvSpPr>
          <p:spPr>
            <a:xfrm>
              <a:off x="3148013" y="1282700"/>
              <a:ext cx="1768475" cy="3448050"/>
            </a:xfrm>
            <a:custGeom>
              <a:rect b="b" l="l" r="r" t="t"/>
              <a:pathLst>
                <a:path extrusionOk="0" h="878" w="45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rgbClr val="BF0000">
                <a:alpha val="4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9"/>
            <p:cNvSpPr/>
            <p:nvPr/>
          </p:nvSpPr>
          <p:spPr>
            <a:xfrm>
              <a:off x="3273426" y="5653088"/>
              <a:ext cx="138113" cy="287338"/>
            </a:xfrm>
            <a:custGeom>
              <a:rect b="b" l="l" r="r" t="t"/>
              <a:pathLst>
                <a:path extrusionOk="0" h="73" w="35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rgbClr val="BF0000">
                <a:alpha val="4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9"/>
            <p:cNvSpPr/>
            <p:nvPr/>
          </p:nvSpPr>
          <p:spPr>
            <a:xfrm>
              <a:off x="3143251" y="4656138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rgbClr val="BF0000">
                <a:alpha val="4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9"/>
            <p:cNvSpPr/>
            <p:nvPr/>
          </p:nvSpPr>
          <p:spPr>
            <a:xfrm>
              <a:off x="3211513" y="5410200"/>
              <a:ext cx="203200" cy="530225"/>
            </a:xfrm>
            <a:custGeom>
              <a:rect b="b" l="l" r="r" t="t"/>
              <a:pathLst>
                <a:path extrusionOk="0" h="135" w="52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rgbClr val="BF0000">
                <a:alpha val="4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" name="Google Shape;19;p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</p:grpSpPr>
        <p:sp>
          <p:nvSpPr>
            <p:cNvPr id="20" name="Google Shape;20;p9"/>
            <p:cNvSpPr/>
            <p:nvPr/>
          </p:nvSpPr>
          <p:spPr>
            <a:xfrm>
              <a:off x="6627813" y="195452"/>
              <a:ext cx="409575" cy="3646488"/>
            </a:xfrm>
            <a:custGeom>
              <a:rect b="b" l="l" r="r" t="t"/>
              <a:pathLst>
                <a:path extrusionOk="0" h="920" w="103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9"/>
            <p:cNvSpPr/>
            <p:nvPr/>
          </p:nvSpPr>
          <p:spPr>
            <a:xfrm>
              <a:off x="7061201" y="3771900"/>
              <a:ext cx="350838" cy="1309688"/>
            </a:xfrm>
            <a:custGeom>
              <a:rect b="b" l="l" r="r" t="t"/>
              <a:pathLst>
                <a:path extrusionOk="0" h="330" w="88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9"/>
            <p:cNvSpPr/>
            <p:nvPr/>
          </p:nvSpPr>
          <p:spPr>
            <a:xfrm>
              <a:off x="7439026" y="5053013"/>
              <a:ext cx="357188" cy="820738"/>
            </a:xfrm>
            <a:custGeom>
              <a:rect b="b" l="l" r="r" t="t"/>
              <a:pathLst>
                <a:path extrusionOk="0" h="207" w="9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9"/>
            <p:cNvSpPr/>
            <p:nvPr/>
          </p:nvSpPr>
          <p:spPr>
            <a:xfrm>
              <a:off x="7037388" y="3811588"/>
              <a:ext cx="457200" cy="1852613"/>
            </a:xfrm>
            <a:custGeom>
              <a:rect b="b" l="l" r="r" t="t"/>
              <a:pathLst>
                <a:path extrusionOk="0" h="467" w="115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9"/>
            <p:cNvSpPr/>
            <p:nvPr/>
          </p:nvSpPr>
          <p:spPr>
            <a:xfrm>
              <a:off x="6992938" y="1263650"/>
              <a:ext cx="144463" cy="2508250"/>
            </a:xfrm>
            <a:custGeom>
              <a:rect b="b" l="l" r="r" t="t"/>
              <a:pathLst>
                <a:path extrusionOk="0" h="633" w="36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9"/>
            <p:cNvSpPr/>
            <p:nvPr/>
          </p:nvSpPr>
          <p:spPr>
            <a:xfrm>
              <a:off x="7526338" y="5640388"/>
              <a:ext cx="111125" cy="233363"/>
            </a:xfrm>
            <a:custGeom>
              <a:rect b="b" l="l" r="r" t="t"/>
              <a:pathLst>
                <a:path extrusionOk="0" h="59" w="28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9"/>
            <p:cNvSpPr/>
            <p:nvPr/>
          </p:nvSpPr>
          <p:spPr>
            <a:xfrm>
              <a:off x="7021513" y="3598863"/>
              <a:ext cx="68263" cy="423863"/>
            </a:xfrm>
            <a:custGeom>
              <a:rect b="b" l="l" r="r" t="t"/>
              <a:pathLst>
                <a:path extrusionOk="0" h="107" w="1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9"/>
            <p:cNvSpPr/>
            <p:nvPr/>
          </p:nvSpPr>
          <p:spPr>
            <a:xfrm>
              <a:off x="7412038" y="2801938"/>
              <a:ext cx="1168400" cy="2251075"/>
            </a:xfrm>
            <a:custGeom>
              <a:rect b="b" l="l" r="r" t="t"/>
              <a:pathLst>
                <a:path extrusionOk="0" h="568" w="294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9"/>
            <p:cNvSpPr/>
            <p:nvPr/>
          </p:nvSpPr>
          <p:spPr>
            <a:xfrm>
              <a:off x="7494588" y="5664200"/>
              <a:ext cx="100013" cy="209550"/>
            </a:xfrm>
            <a:custGeom>
              <a:rect b="b" l="l" r="r" t="t"/>
              <a:pathLst>
                <a:path extrusionOk="0" h="53" w="25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9"/>
            <p:cNvSpPr/>
            <p:nvPr/>
          </p:nvSpPr>
          <p:spPr>
            <a:xfrm>
              <a:off x="7412038" y="5081588"/>
              <a:ext cx="114300" cy="558800"/>
            </a:xfrm>
            <a:custGeom>
              <a:rect b="b" l="l" r="r" t="t"/>
              <a:pathLst>
                <a:path extrusionOk="0" h="141" w="29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9"/>
            <p:cNvSpPr/>
            <p:nvPr/>
          </p:nvSpPr>
          <p:spPr>
            <a:xfrm>
              <a:off x="7412038" y="4978400"/>
              <a:ext cx="31750" cy="188913"/>
            </a:xfrm>
            <a:custGeom>
              <a:rect b="b" l="l" r="r" t="t"/>
              <a:pathLst>
                <a:path extrusionOk="0" h="48" w="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9"/>
            <p:cNvSpPr/>
            <p:nvPr/>
          </p:nvSpPr>
          <p:spPr>
            <a:xfrm>
              <a:off x="7439026" y="5434013"/>
              <a:ext cx="174625" cy="439738"/>
            </a:xfrm>
            <a:custGeom>
              <a:rect b="b" l="l" r="r" t="t"/>
              <a:pathLst>
                <a:path extrusionOk="0" h="111" w="44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9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 txBox="1"/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b="0" i="0" sz="18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b="0" i="0" sz="16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b="0" i="0" sz="14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10" type="dt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6" name="Google Shape;36;p9"/>
          <p:cNvSpPr txBox="1"/>
          <p:nvPr>
            <p:ph idx="11" type="ftr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531812" y="787782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000" u="none" cap="none" strike="noStrik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2672" y="1609434"/>
            <a:ext cx="6934200" cy="4619625"/>
          </a:xfrm>
          <a:prstGeom prst="rect">
            <a:avLst/>
          </a:prstGeom>
          <a:noFill/>
          <a:ln cap="flat" cmpd="sng" w="349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317500" algn="ctr">
              <a:srgbClr val="000000">
                <a:alpha val="42745"/>
              </a:srgbClr>
            </a:outerShdw>
          </a:effectLst>
        </p:spPr>
      </p:pic>
      <p:sp>
        <p:nvSpPr>
          <p:cNvPr id="165" name="Google Shape;165;p1"/>
          <p:cNvSpPr txBox="1"/>
          <p:nvPr>
            <p:ph type="ctrTitle"/>
          </p:nvPr>
        </p:nvSpPr>
        <p:spPr>
          <a:xfrm>
            <a:off x="3666259" y="1609433"/>
            <a:ext cx="4838700" cy="9287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ct val="80597"/>
              <a:buFont typeface="Century Gothic"/>
              <a:buNone/>
            </a:pPr>
            <a:r>
              <a:rPr i="1" lang="fr-FR">
                <a:latin typeface="Century Gothic"/>
                <a:ea typeface="Century Gothic"/>
                <a:cs typeface="Century Gothic"/>
                <a:sym typeface="Century Gothic"/>
              </a:rPr>
              <a:t>                    </a:t>
            </a:r>
            <a:r>
              <a:rPr i="1" lang="fr-FR" sz="6700">
                <a:solidFill>
                  <a:schemeClr val="lt1"/>
                </a:solidFill>
                <a:latin typeface="Overlock"/>
                <a:ea typeface="Overlock"/>
                <a:cs typeface="Overlock"/>
                <a:sym typeface="Overlock"/>
              </a:rPr>
              <a:t>Luxe-Carz</a:t>
            </a:r>
            <a:endParaRPr i="1" sz="6700">
              <a:solidFill>
                <a:schemeClr val="lt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66" name="Google Shape;166;p1"/>
          <p:cNvSpPr txBox="1"/>
          <p:nvPr>
            <p:ph idx="1" type="subTitle"/>
          </p:nvPr>
        </p:nvSpPr>
        <p:spPr>
          <a:xfrm>
            <a:off x="1513609" y="346695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>
                <a:latin typeface="Overlock"/>
                <a:ea typeface="Overlock"/>
                <a:cs typeface="Overlock"/>
                <a:sym typeface="Overlock"/>
              </a:rPr>
              <a:t>Je vous présente mon site de vente automobiles de luxe basée à Nice en Cote d’azur.</a:t>
            </a:r>
            <a:endParaRPr sz="2800"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042" y="3082339"/>
            <a:ext cx="10058400" cy="3606654"/>
          </a:xfrm>
          <a:prstGeom prst="rect">
            <a:avLst/>
          </a:prstGeom>
          <a:noFill/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</p:pic>
      <p:sp>
        <p:nvSpPr>
          <p:cNvPr id="172" name="Google Shape;172;p2"/>
          <p:cNvSpPr txBox="1"/>
          <p:nvPr>
            <p:ph type="title"/>
          </p:nvPr>
        </p:nvSpPr>
        <p:spPr>
          <a:xfrm>
            <a:off x="1834389" y="171623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Overlock"/>
              <a:buNone/>
            </a:pPr>
            <a:r>
              <a:rPr lang="fr-FR" sz="5400">
                <a:latin typeface="Overlock"/>
                <a:ea typeface="Overlock"/>
                <a:cs typeface="Overlock"/>
                <a:sym typeface="Overlock"/>
              </a:rPr>
              <a:t>SOMMAIRE</a:t>
            </a:r>
            <a:endParaRPr sz="5400"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73" name="Google Shape;173;p2"/>
          <p:cNvSpPr txBox="1"/>
          <p:nvPr>
            <p:ph idx="1" type="body"/>
          </p:nvPr>
        </p:nvSpPr>
        <p:spPr>
          <a:xfrm>
            <a:off x="1687060" y="1108044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🠶"/>
            </a:pPr>
            <a:r>
              <a:rPr lang="fr-FR" sz="2800">
                <a:latin typeface="Overlock"/>
                <a:ea typeface="Overlock"/>
                <a:cs typeface="Overlock"/>
                <a:sym typeface="Overlock"/>
              </a:rPr>
              <a:t>1. Qui sommes-nous ?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2800"/>
              <a:buChar char="🠶"/>
            </a:pPr>
            <a:r>
              <a:rPr lang="fr-FR" sz="2800">
                <a:latin typeface="Overlock"/>
                <a:ea typeface="Overlock"/>
                <a:cs typeface="Overlock"/>
                <a:sym typeface="Overlock"/>
              </a:rPr>
              <a:t>2. Notre objectif (Bête à Corne et Diagramme de   Pieuvre)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2800"/>
              <a:buChar char="🠶"/>
            </a:pPr>
            <a:r>
              <a:rPr lang="fr-FR" sz="2800">
                <a:latin typeface="Overlock"/>
                <a:ea typeface="Overlock"/>
                <a:cs typeface="Overlock"/>
                <a:sym typeface="Overlock"/>
              </a:rPr>
              <a:t>3. Aperçu du code du site web et explication</a:t>
            </a:r>
            <a:endParaRPr sz="2800"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2826" y="2964871"/>
            <a:ext cx="5184051" cy="3456709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>
            <a:noFill/>
          </a:ln>
          <a:effectLst>
            <a:outerShdw blurRad="225425" algn="ctr" dir="5220000" dist="50800">
              <a:srgbClr val="000000">
                <a:alpha val="32941"/>
              </a:srgbClr>
            </a:outerShdw>
            <a:reflection blurRad="0" dir="5400000" dist="5000" endA="0" endPos="28000" kx="0" rotWithShape="0" algn="bl" stA="38000" stPos="0" sy="-100000" ky="0"/>
          </a:effectLst>
        </p:spPr>
      </p:pic>
      <p:sp>
        <p:nvSpPr>
          <p:cNvPr id="179" name="Google Shape;179;p3"/>
          <p:cNvSpPr txBox="1"/>
          <p:nvPr>
            <p:ph type="title"/>
          </p:nvPr>
        </p:nvSpPr>
        <p:spPr>
          <a:xfrm>
            <a:off x="2104552" y="374728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Overlock"/>
              <a:buNone/>
            </a:pPr>
            <a:r>
              <a:rPr lang="fr-FR">
                <a:latin typeface="Overlock"/>
                <a:ea typeface="Overlock"/>
                <a:cs typeface="Overlock"/>
                <a:sym typeface="Overlock"/>
              </a:rPr>
              <a:t>Qui Sommes-Nous ?</a:t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80" name="Google Shape;180;p3"/>
          <p:cNvSpPr txBox="1"/>
          <p:nvPr>
            <p:ph idx="1" type="body"/>
          </p:nvPr>
        </p:nvSpPr>
        <p:spPr>
          <a:xfrm>
            <a:off x="1934584" y="1350817"/>
            <a:ext cx="8915400" cy="3228109"/>
          </a:xfrm>
          <a:prstGeom prst="rect">
            <a:avLst/>
          </a:prstGeom>
          <a:noFill/>
          <a:ln>
            <a:noFill/>
          </a:ln>
          <a:effectLst>
            <a:outerShdw blurRad="50800" rotWithShape="0" dir="162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ctr">
              <a:spcBef>
                <a:spcPts val="0"/>
              </a:spcBef>
              <a:spcAft>
                <a:spcPts val="0"/>
              </a:spcAft>
              <a:buSzPts val="2000"/>
              <a:buChar char="🠶"/>
            </a:pPr>
            <a:r>
              <a:rPr lang="fr-FR" sz="2000"/>
              <a:t>Lux-Carz est une agence automobile spécialisée dans la vente et la recherche personnalisée de sport et de prestige.</a:t>
            </a:r>
            <a:endParaRPr/>
          </a:p>
          <a:p>
            <a:pPr indent="-342900" lvl="0" marL="342900" rtl="0" algn="ctr">
              <a:spcBef>
                <a:spcPts val="1000"/>
              </a:spcBef>
              <a:spcAft>
                <a:spcPts val="0"/>
              </a:spcAft>
              <a:buSzPts val="2000"/>
              <a:buChar char="🠶"/>
            </a:pPr>
            <a:r>
              <a:rPr lang="fr-FR" sz="2000"/>
              <a:t> Lux-Carz à vu le jour grâce à deux co-gérants, Arnaud Jossomme et Romain Faudet. Aujourd’hui nous sommes une équipe de 8 personnes.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"/>
          <p:cNvSpPr txBox="1"/>
          <p:nvPr>
            <p:ph type="title"/>
          </p:nvPr>
        </p:nvSpPr>
        <p:spPr>
          <a:xfrm>
            <a:off x="1553833" y="229255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Overlock"/>
              <a:buNone/>
            </a:pPr>
            <a:r>
              <a:rPr lang="fr-FR" sz="4000">
                <a:latin typeface="Overlock"/>
                <a:ea typeface="Overlock"/>
                <a:cs typeface="Overlock"/>
                <a:sym typeface="Overlock"/>
              </a:rPr>
              <a:t>Bête à Corne</a:t>
            </a:r>
            <a:endParaRPr sz="4000">
              <a:latin typeface="Overlock"/>
              <a:ea typeface="Overlock"/>
              <a:cs typeface="Overlock"/>
              <a:sym typeface="Overlock"/>
            </a:endParaRPr>
          </a:p>
        </p:txBody>
      </p:sp>
      <p:pic>
        <p:nvPicPr>
          <p:cNvPr id="186" name="Google Shape;186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2582" y="1205672"/>
            <a:ext cx="7134190" cy="5199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 txBox="1"/>
          <p:nvPr>
            <p:ph type="title"/>
          </p:nvPr>
        </p:nvSpPr>
        <p:spPr>
          <a:xfrm>
            <a:off x="1364832" y="364338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Overlock"/>
              <a:buNone/>
            </a:pPr>
            <a:r>
              <a:rPr lang="fr-FR">
                <a:latin typeface="Overlock"/>
                <a:ea typeface="Overlock"/>
                <a:cs typeface="Overlock"/>
                <a:sym typeface="Overlock"/>
              </a:rPr>
              <a:t>Diagramme de Pieuvre</a:t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pic>
        <p:nvPicPr>
          <p:cNvPr id="192" name="Google Shape;192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0691" y="1433946"/>
            <a:ext cx="7304809" cy="4508211"/>
          </a:xfrm>
          <a:prstGeom prst="roundRect">
            <a:avLst>
              <a:gd fmla="val 4167" name="adj"/>
            </a:avLst>
          </a:prstGeom>
          <a:solidFill>
            <a:srgbClr val="FFFFFF"/>
          </a:solidFill>
          <a:ln cap="sq" cmpd="sng" w="76200">
            <a:solidFill>
              <a:srgbClr val="292929"/>
            </a:solidFill>
            <a:prstDash val="solid"/>
            <a:miter lim="800000"/>
            <a:headEnd len="sm" w="sm" type="none"/>
            <a:tailEnd len="sm" w="sm" type="none"/>
          </a:ln>
          <a:effectLst>
            <a:reflection blurRad="0" dir="5400000" dist="5000" endA="0" endPos="28000" kx="0" rotWithShape="0" algn="bl" stA="28000" stPos="0" sy="-100000" ky="0"/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"/>
          <p:cNvSpPr txBox="1"/>
          <p:nvPr>
            <p:ph type="title"/>
          </p:nvPr>
        </p:nvSpPr>
        <p:spPr>
          <a:xfrm>
            <a:off x="1494151" y="457855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Overlock"/>
              <a:buNone/>
            </a:pPr>
            <a:r>
              <a:rPr lang="fr-FR">
                <a:latin typeface="Overlock"/>
                <a:ea typeface="Overlock"/>
                <a:cs typeface="Overlock"/>
                <a:sym typeface="Overlock"/>
              </a:rPr>
              <a:t>Aperçu du Code du site (explication)</a:t>
            </a:r>
            <a:br>
              <a:rPr lang="fr-FR">
                <a:latin typeface="Overlock"/>
                <a:ea typeface="Overlock"/>
                <a:cs typeface="Overlock"/>
                <a:sym typeface="Overlock"/>
              </a:rPr>
            </a:br>
            <a:r>
              <a:rPr lang="fr-FR">
                <a:latin typeface="Overlock"/>
                <a:ea typeface="Overlock"/>
                <a:cs typeface="Overlock"/>
                <a:sym typeface="Overlock"/>
              </a:rPr>
              <a:t> </a:t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pic>
        <p:nvPicPr>
          <p:cNvPr id="198" name="Google Shape;198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7458" y="1484260"/>
            <a:ext cx="4378036" cy="4862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 txBox="1"/>
          <p:nvPr>
            <p:ph type="title"/>
          </p:nvPr>
        </p:nvSpPr>
        <p:spPr>
          <a:xfrm>
            <a:off x="1709697" y="416291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600"/>
              <a:buFont typeface="Overlock"/>
              <a:buNone/>
            </a:pPr>
            <a:r>
              <a:rPr lang="fr-FR">
                <a:latin typeface="Overlock"/>
                <a:ea typeface="Overlock"/>
                <a:cs typeface="Overlock"/>
                <a:sym typeface="Overlock"/>
              </a:rPr>
              <a:t>Aperçu du site web (explication)</a:t>
            </a:r>
            <a:br>
              <a:rPr lang="fr-FR">
                <a:latin typeface="Overlock"/>
                <a:ea typeface="Overlock"/>
                <a:cs typeface="Overlock"/>
                <a:sym typeface="Overlock"/>
              </a:rPr>
            </a:br>
            <a:r>
              <a:rPr lang="fr-FR">
                <a:latin typeface="Overlock"/>
                <a:ea typeface="Overlock"/>
                <a:cs typeface="Overlock"/>
                <a:sym typeface="Overlock"/>
              </a:rPr>
              <a:t>commandes de la BDD</a:t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pic>
        <p:nvPicPr>
          <p:cNvPr id="204" name="Google Shape;204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3140" y="2415688"/>
            <a:ext cx="7344800" cy="2758984"/>
          </a:xfrm>
          <a:prstGeom prst="rect">
            <a:avLst/>
          </a:prstGeom>
          <a:noFill/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318" y="3456053"/>
            <a:ext cx="5237018" cy="2945823"/>
          </a:xfrm>
          <a:prstGeom prst="rect">
            <a:avLst/>
          </a:prstGeom>
          <a:noFill/>
          <a:ln>
            <a:noFill/>
          </a:ln>
          <a:effectLst>
            <a:outerShdw blurRad="225425" algn="ctr" dir="5220000" dist="50800">
              <a:srgbClr val="000000">
                <a:alpha val="32941"/>
              </a:srgbClr>
            </a:outerShdw>
          </a:effectLst>
        </p:spPr>
      </p:pic>
      <p:sp>
        <p:nvSpPr>
          <p:cNvPr id="210" name="Google Shape;210;p8"/>
          <p:cNvSpPr txBox="1"/>
          <p:nvPr>
            <p:ph type="title"/>
          </p:nvPr>
        </p:nvSpPr>
        <p:spPr>
          <a:xfrm>
            <a:off x="1470707" y="561765"/>
            <a:ext cx="8911687" cy="1280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Arial Rounded"/>
              <a:buNone/>
            </a:pPr>
            <a:r>
              <a:rPr b="1" lang="fr-FR" sz="4000">
                <a:latin typeface="Arial Rounded"/>
                <a:ea typeface="Arial Rounded"/>
                <a:cs typeface="Arial Rounded"/>
                <a:sym typeface="Arial Rounded"/>
              </a:rPr>
              <a:t>Fin de la Présentation </a:t>
            </a:r>
            <a:endParaRPr b="1" sz="4000"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11" name="Google Shape;211;p8"/>
          <p:cNvSpPr txBox="1"/>
          <p:nvPr>
            <p:ph idx="1" type="body"/>
          </p:nvPr>
        </p:nvSpPr>
        <p:spPr>
          <a:xfrm>
            <a:off x="1716375" y="1842655"/>
            <a:ext cx="8915400" cy="3777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ctr">
              <a:spcBef>
                <a:spcPts val="0"/>
              </a:spcBef>
              <a:spcAft>
                <a:spcPts val="0"/>
              </a:spcAft>
              <a:buSzPts val="2800"/>
              <a:buChar char="🠶"/>
            </a:pPr>
            <a:r>
              <a:rPr b="1" lang="fr-FR" sz="2800">
                <a:latin typeface="Arial Rounded"/>
                <a:ea typeface="Arial Rounded"/>
                <a:cs typeface="Arial Rounded"/>
                <a:sym typeface="Arial Rounded"/>
              </a:rPr>
              <a:t>Merci pour votre attention accordée envers la présentation de mon projet,</a:t>
            </a:r>
            <a:endParaRPr/>
          </a:p>
          <a:p>
            <a:pPr indent="-342900" lvl="0" marL="342900" rtl="0" algn="ctr">
              <a:spcBef>
                <a:spcPts val="1000"/>
              </a:spcBef>
              <a:spcAft>
                <a:spcPts val="0"/>
              </a:spcAft>
              <a:buSzPts val="2800"/>
              <a:buChar char="🠶"/>
            </a:pPr>
            <a:r>
              <a:rPr b="1" lang="fr-FR" sz="2800">
                <a:latin typeface="Arial Rounded"/>
                <a:ea typeface="Arial Rounded"/>
                <a:cs typeface="Arial Rounded"/>
                <a:sym typeface="Arial Rounded"/>
              </a:rPr>
              <a:t>J’espère qu’elle a été assez claire et explicite pour vous.</a:t>
            </a:r>
            <a:endParaRPr/>
          </a:p>
          <a:p>
            <a:pPr indent="-342900" lvl="0" marL="342900" rtl="0" algn="ctr">
              <a:spcBef>
                <a:spcPts val="1000"/>
              </a:spcBef>
              <a:spcAft>
                <a:spcPts val="0"/>
              </a:spcAft>
              <a:buSzPts val="2800"/>
              <a:buChar char="🠶"/>
            </a:pPr>
            <a:r>
              <a:rPr b="1" lang="fr-FR" sz="2800">
                <a:latin typeface="Arial Rounded"/>
                <a:ea typeface="Arial Rounded"/>
                <a:cs typeface="Arial Rounded"/>
                <a:sym typeface="Arial Rounded"/>
              </a:rPr>
              <a:t>Encore Merci</a:t>
            </a:r>
            <a:endParaRPr b="1" sz="2800"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Brin">
  <a:themeElements>
    <a:clrScheme name="Personnalisé 4">
      <a:dk1>
        <a:srgbClr val="000000"/>
      </a:dk1>
      <a:lt1>
        <a:srgbClr val="FFFFFF"/>
      </a:lt1>
      <a:dk2>
        <a:srgbClr val="2C333A"/>
      </a:dk2>
      <a:lt2>
        <a:srgbClr val="D6ECED"/>
      </a:lt2>
      <a:accent1>
        <a:srgbClr val="FF0000"/>
      </a:accent1>
      <a:accent2>
        <a:srgbClr val="FF0000"/>
      </a:accent2>
      <a:accent3>
        <a:srgbClr val="349FE7"/>
      </a:accent3>
      <a:accent4>
        <a:srgbClr val="565FF8"/>
      </a:accent4>
      <a:accent5>
        <a:srgbClr val="876BE7"/>
      </a:accent5>
      <a:accent6>
        <a:srgbClr val="FF0000"/>
      </a:accent6>
      <a:hlink>
        <a:srgbClr val="FF000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2022-11-27T19:02:48Z</dcterms:created>
  <dc:creator>utilisateur</dc:creator>
</cp:coreProperties>
</file>